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cfbaa17-3e7a-c693-eeab-02255a556ede}">
          <p14:sldIdLst>
            <p14:sldId id="256"/>
            <p14:sldId id="257"/>
          </p14:sldIdLst>
        </p14:section>
        <p14:section name="Data and model" id="{fd8a1241-b4a2-1e63-def1-29b346958f2c}">
          <p14:sldIdLst>
            <p14:sldId id="258"/>
            <p14:sldId id="259"/>
            <p14:sldId id="260"/>
          </p14:sldIdLst>
        </p14:section>
        <p14:section name="Results" id="{89c42ce0-2ae2-e27d-3399-42a4c9980f52}">
          <p14:sldIdLst>
            <p14:sldId id="261"/>
            <p14:sldId id="262"/>
            <p14:sldId id="263"/>
          </p14:sldIdLst>
        </p14:section>
        <p14:section name="Close" id="{af6c739c-fdf7-887e-dde1-639958ad98fd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8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83A"/>
                </a:solidFill>
                <a:latin typeface="+mn-lt"/>
              </a:rPr>
              <a:t>Confirmed revenue by month, 2022 to 2024 (₹ crore)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crore)</c:v>
                </c:pt>
              </c:strCache>
            </c:strRef>
          </c:tx>
          <c:spPr>
            <a:solidFill>
              <a:srgbClr val="B889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8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4.97</c:v>
                </c:pt>
                <c:pt idx="1">
                  <c:v>3.05</c:v>
                </c:pt>
                <c:pt idx="2">
                  <c:v>3.16</c:v>
                </c:pt>
                <c:pt idx="3">
                  <c:v>3.29</c:v>
                </c:pt>
                <c:pt idx="4">
                  <c:v>3.56</c:v>
                </c:pt>
                <c:pt idx="5">
                  <c:v>2.23</c:v>
                </c:pt>
                <c:pt idx="6">
                  <c:v>2.11</c:v>
                </c:pt>
                <c:pt idx="7">
                  <c:v>2.48</c:v>
                </c:pt>
                <c:pt idx="8">
                  <c:v>2.59</c:v>
                </c:pt>
                <c:pt idx="9">
                  <c:v>2.52</c:v>
                </c:pt>
                <c:pt idx="10">
                  <c:v>3.1</c:v>
                </c:pt>
                <c:pt idx="11">
                  <c:v>5.25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428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E7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3DFDD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E7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8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83A"/>
                </a:solidFill>
                <a:latin typeface="+mn-lt"/>
              </a:rPr>
              <a:t>Cancellation rate by lead time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 rate</c:v>
                </c:pt>
              </c:strCache>
            </c:strRef>
          </c:tx>
          <c:spPr>
            <a:solidFill>
              <a:srgbClr val="B83A4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8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0-7 days</c:v>
                  </c:pt>
                  <c:pt idx="1">
                    <c:v>8-30 days</c:v>
                  </c:pt>
                  <c:pt idx="2">
                    <c:v>31-90 days</c:v>
                  </c:pt>
                  <c:pt idx="3">
                    <c:v>90+ days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14.6</c:v>
                </c:pt>
                <c:pt idx="1">
                  <c:v>20.2</c:v>
                </c:pt>
                <c:pt idx="2">
                  <c:v>32.6</c:v>
                </c:pt>
                <c:pt idx="3">
                  <c:v>56.6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428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E7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3DFDD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E7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8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83A"/>
                </a:solidFill>
                <a:latin typeface="+mn-lt"/>
              </a:rPr>
              <a:t>Cancellation rate by deposit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 rate</c:v>
                </c:pt>
              </c:strCache>
            </c:strRef>
          </c:tx>
          <c:spPr>
            <a:solidFill>
              <a:srgbClr val="B83A4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8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Non Refund</c:v>
                  </c:pt>
                  <c:pt idx="1">
                    <c:v>No Deposit</c:v>
                  </c:pt>
                  <c:pt idx="2">
                    <c:v>Refundable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10.5</c:v>
                </c:pt>
                <c:pt idx="1">
                  <c:v>33.4</c:v>
                </c:pt>
                <c:pt idx="2">
                  <c:v>36.2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428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E7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3DFDD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E7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end-to-end Power BI analysis of two hotels, built from requirement analysis through to a dashboard. The three numbers on the right are the headline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hotel only earns when rooms are filled. Roughly one booking in three is cancelled, which cost about 21 crore rupees. The objectives show how the project answers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CSV files: one fact table and three small dimension tables. The data is simulated but follows real hotel behaviour, and it includes deliberate errors so that cleaning is a real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cleaning was done in Power Query. Duplicates, invalid bookings and price errors were removed, blanks were filled, and six new columns were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relationships connect the fact table to hotel, country, room type and a DAX date table. Eleven measures sit on top; these six drive the dashboard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interactive page. Click a year or a hotel and every number updates. Walk through the cards first, then the heatmap and the charts.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is counted in the month of arrival. December is the busiest month and July the quietest, so pricing and staffing should follow that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Bookings made 90 or more days ahead cancel 56.6 percent of the time. Non-refundable bookings cancel only 10.5 percent. Groups and online agents cancel most; corporate guests least; India brings 61 percent of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recommendation comes straight from a finding: deposits for lead time, overbooking for groups and agents, pricing for seasonality, and growing the segments that cancel least.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open about limits: the data is simulated. Then outline next steps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731520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Hotel Booking BI Dashboard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769925"/>
            <a:ext cx="380390" cy="38039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41732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Hotel Booking Data Analysis and Business Intelligence Dashboard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9319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Occupancy, cancellations and revenue for two hotels, built in Power BI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394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Presented by Your Name</a:t>
            </a:r>
            <a:endParaRPr lang="en-US" sz="1600" dirty="0"/>
          </a:p>
        </p:txBody>
      </p:sp>
      <p:sp>
        <p:nvSpPr>
          <p:cNvPr id="7" name="Stat card 1"/>
          <p:cNvSpPr/>
          <p:nvPr/>
        </p:nvSpPr>
        <p:spPr>
          <a:xfrm>
            <a:off x="8412480" y="914400"/>
            <a:ext cx="320040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41080" y="1097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34,407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bookings analysed</a:t>
            </a:r>
            <a:endParaRPr lang="en-US" sz="1400" dirty="0"/>
          </a:p>
        </p:txBody>
      </p:sp>
      <p:sp>
        <p:nvSpPr>
          <p:cNvPr id="10" name="Stat card 2"/>
          <p:cNvSpPr/>
          <p:nvPr/>
        </p:nvSpPr>
        <p:spPr>
          <a:xfrm>
            <a:off x="8412480" y="2606040"/>
            <a:ext cx="320040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41080" y="2788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₹38.29 Cr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864108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confirmed revenue</a:t>
            </a:r>
            <a:endParaRPr lang="en-US" sz="1400" dirty="0"/>
          </a:p>
        </p:txBody>
      </p:sp>
      <p:sp>
        <p:nvSpPr>
          <p:cNvPr id="13" name="Stat card 3"/>
          <p:cNvSpPr/>
          <p:nvPr/>
        </p:nvSpPr>
        <p:spPr>
          <a:xfrm>
            <a:off x="8412480" y="4297680"/>
            <a:ext cx="320040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41080" y="44805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30.8%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8641080" y="5212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of bookings cancelled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this project: cancellations cost revenue</a:t>
            </a:r>
            <a:endParaRPr lang="en-US" sz="3400" dirty="0"/>
          </a:p>
        </p:txBody>
      </p:sp>
      <p:sp>
        <p:nvSpPr>
          <p:cNvPr id="3" name="Stats card"/>
          <p:cNvSpPr/>
          <p:nvPr/>
        </p:nvSpPr>
        <p:spPr>
          <a:xfrm>
            <a:off x="548640" y="1371600"/>
            <a:ext cx="3657600" cy="475488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30.8%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585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of bookings are cancelled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₹21.28 Cr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75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revenue lost to cancellations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52.6%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0932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average occupancy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3716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182880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Hotels earn money only when rooms are filled at a good rate, yet about one booking in three is cancelled. Management has raw booking records but no single view of occupancy, cancellations and revenue.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4290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Objectives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886200"/>
            <a:ext cx="7040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Clean and model the booking data as a star schema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Measure bookings, revenue, ADR, occupancy and RevPAR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Find which guests, channels and lead times drive cancellations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Deliver an interactive dashboard with clear recommendations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dataset: two hotels over three years</a:t>
            </a:r>
            <a:endParaRPr lang="en-US" sz="3400" dirty="0"/>
          </a:p>
        </p:txBody>
      </p:sp>
      <p:sp>
        <p:nvSpPr>
          <p:cNvPr id="3" name="Fact 1"/>
          <p:cNvSpPr/>
          <p:nvPr/>
        </p:nvSpPr>
        <p:spPr>
          <a:xfrm>
            <a:off x="548640" y="1371600"/>
            <a:ext cx="205740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128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hotels</a:t>
            </a:r>
            <a:endParaRPr lang="en-US" sz="1400" dirty="0"/>
          </a:p>
        </p:txBody>
      </p:sp>
      <p:sp>
        <p:nvSpPr>
          <p:cNvPr id="6" name="Fact 2"/>
          <p:cNvSpPr/>
          <p:nvPr/>
        </p:nvSpPr>
        <p:spPr>
          <a:xfrm>
            <a:off x="2788920" y="1371600"/>
            <a:ext cx="205740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71800" y="1554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2022 to 2024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971800" y="22128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arrival period</a:t>
            </a:r>
            <a:endParaRPr lang="en-US" sz="1400" dirty="0"/>
          </a:p>
        </p:txBody>
      </p:sp>
      <p:sp>
        <p:nvSpPr>
          <p:cNvPr id="9" name="Fact 3"/>
          <p:cNvSpPr/>
          <p:nvPr/>
        </p:nvSpPr>
        <p:spPr>
          <a:xfrm>
            <a:off x="548640" y="3108960"/>
            <a:ext cx="205740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291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31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950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columns per booking</a:t>
            </a:r>
            <a:endParaRPr lang="en-US" sz="1400" dirty="0"/>
          </a:p>
        </p:txBody>
      </p:sp>
      <p:sp>
        <p:nvSpPr>
          <p:cNvPr id="12" name="Fact 4"/>
          <p:cNvSpPr/>
          <p:nvPr/>
        </p:nvSpPr>
        <p:spPr>
          <a:xfrm>
            <a:off x="2788920" y="3108960"/>
            <a:ext cx="205740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71800" y="3291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INR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3950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currency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9834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Simulated, realistic data built for this project, with planted errors to clean.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371600"/>
          <a:ext cx="6400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3383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7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83A"/>
                          </a:solidFill>
                        </a:rPr>
                        <a:t>hotel_bookings.csv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3A"/>
                          </a:solidFill>
                        </a:rPr>
                        <a:t>34,662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3A"/>
                          </a:solidFill>
                        </a:rPr>
                        <a:t>Fact table, one row per booking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83A"/>
                          </a:solidFill>
                        </a:rPr>
                        <a:t>dim_hotel.csv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3A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3A"/>
                          </a:solidFill>
                        </a:rPr>
                        <a:t>Hotel name, type, location, rooms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83A"/>
                          </a:solidFill>
                        </a:rPr>
                        <a:t>dim_room_type.csv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3A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3A"/>
                          </a:solidFill>
                        </a:rPr>
                        <a:t>Room type code and description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83A"/>
                          </a:solidFill>
                        </a:rPr>
                        <a:t>dim_country.csv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3A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3A"/>
                          </a:solidFill>
                        </a:rPr>
                        <a:t>Country code, name and region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212080" y="43434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Hotels: Chennai City Hotel (60 rooms) and ECR Beach Resort (40 rooms).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Cleaning removed 255 faulty rows</a:t>
            </a:r>
            <a:endParaRPr lang="en-US" sz="3400" dirty="0"/>
          </a:p>
        </p:txBody>
      </p:sp>
      <p:sp>
        <p:nvSpPr>
          <p:cNvPr id="3" name="Before and after"/>
          <p:cNvSpPr/>
          <p:nvPr/>
        </p:nvSpPr>
        <p:spPr>
          <a:xfrm>
            <a:off x="548640" y="1371600"/>
            <a:ext cx="3840480" cy="475488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34,662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042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raw rows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74520" y="2926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8139" y="307969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749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34,407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407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clean rows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6858000" cy="914400"/>
        </p:xfrm>
        <a:graphic>
          <a:graphicData uri="http://schemas.openxmlformats.org/drawingml/2006/table">
            <a:tbl>
              <a:tblPr/>
              <a:tblGrid>
                <a:gridCol w="521208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Cleaning step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7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3A"/>
                          </a:solidFill>
                        </a:rPr>
                        <a:t>Removed duplicate bookings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3A"/>
                          </a:solidFill>
                        </a:rPr>
                        <a:t>-150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3A"/>
                          </a:solidFill>
                        </a:rPr>
                        <a:t>Removed zero-guest bookings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3A"/>
                          </a:solidFill>
                        </a:rPr>
                        <a:t>-60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3A"/>
                          </a:solidFill>
                        </a:rPr>
                        <a:t>Removed negative prices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3A"/>
                          </a:solidFill>
                        </a:rPr>
                        <a:t>-25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3A"/>
                          </a:solidFill>
                        </a:rPr>
                        <a:t>Removed extreme price outliers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3A"/>
                          </a:solidFill>
                        </a:rPr>
                        <a:t>-20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3A"/>
                          </a:solidFill>
                        </a:rPr>
                        <a:t>Blank children replaced with 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3A"/>
                          </a:solidFill>
                        </a:rPr>
                        <a:t>300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3A"/>
                          </a:solidFill>
                        </a:rPr>
                        <a:t>Blank country set to Unknown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3A"/>
                          </a:solidFill>
                        </a:rPr>
                        <a:t>about 500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3A"/>
                          </a:solidFill>
                        </a:rPr>
                        <a:t>Added 6 columns, such as Total Guests and Booking Revenue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3A"/>
                          </a:solidFill>
                        </a:rPr>
                        <a:t>new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754880" y="5577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Zero-price stays were kept: they are valid complimentary bookings.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Star schema and DAX measures</a:t>
            </a:r>
            <a:endParaRPr lang="en-US" sz="3400" dirty="0"/>
          </a:p>
        </p:txBody>
      </p:sp>
      <p:sp>
        <p:nvSpPr>
          <p:cNvPr id="3" name="Link 1"/>
          <p:cNvSpPr/>
          <p:nvPr/>
        </p:nvSpPr>
        <p:spPr>
          <a:xfrm>
            <a:off x="3200400" y="2286000"/>
            <a:ext cx="0" cy="777240"/>
          </a:xfrm>
          <a:prstGeom prst="line">
            <a:avLst/>
          </a:prstGeom>
          <a:noFill/>
          <a:ln w="19050">
            <a:solidFill>
              <a:srgbClr val="5B6E7C"/>
            </a:solidFill>
            <a:prstDash val="solid"/>
          </a:ln>
        </p:spPr>
      </p:sp>
      <p:sp>
        <p:nvSpPr>
          <p:cNvPr id="4" name="Link 2"/>
          <p:cNvSpPr/>
          <p:nvPr/>
        </p:nvSpPr>
        <p:spPr>
          <a:xfrm>
            <a:off x="3200400" y="4069080"/>
            <a:ext cx="0" cy="777240"/>
          </a:xfrm>
          <a:prstGeom prst="line">
            <a:avLst/>
          </a:prstGeom>
          <a:noFill/>
          <a:ln w="19050">
            <a:solidFill>
              <a:srgbClr val="5B6E7C"/>
            </a:solidFill>
            <a:prstDash val="solid"/>
          </a:ln>
        </p:spPr>
      </p:sp>
      <p:sp>
        <p:nvSpPr>
          <p:cNvPr id="5" name="Link 3"/>
          <p:cNvSpPr/>
          <p:nvPr/>
        </p:nvSpPr>
        <p:spPr>
          <a:xfrm>
            <a:off x="1920240" y="3566160"/>
            <a:ext cx="365760" cy="0"/>
          </a:xfrm>
          <a:prstGeom prst="line">
            <a:avLst/>
          </a:prstGeom>
          <a:noFill/>
          <a:ln w="19050">
            <a:solidFill>
              <a:srgbClr val="5B6E7C"/>
            </a:solidFill>
            <a:prstDash val="solid"/>
          </a:ln>
        </p:spPr>
      </p:sp>
      <p:sp>
        <p:nvSpPr>
          <p:cNvPr id="6" name="Link 4"/>
          <p:cNvSpPr/>
          <p:nvPr/>
        </p:nvSpPr>
        <p:spPr>
          <a:xfrm>
            <a:off x="4114800" y="3566160"/>
            <a:ext cx="365760" cy="0"/>
          </a:xfrm>
          <a:prstGeom prst="line">
            <a:avLst/>
          </a:prstGeom>
          <a:noFill/>
          <a:ln w="19050">
            <a:solidFill>
              <a:srgbClr val="5B6E7C"/>
            </a:solidFill>
            <a:prstDash val="solid"/>
          </a:ln>
        </p:spPr>
      </p:sp>
      <p:sp>
        <p:nvSpPr>
          <p:cNvPr id="7" name="factbookings"/>
          <p:cNvSpPr/>
          <p:nvPr/>
        </p:nvSpPr>
        <p:spPr>
          <a:xfrm>
            <a:off x="2286000" y="3063240"/>
            <a:ext cx="182880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30632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factbookings</a:t>
            </a:r>
            <a:endParaRPr lang="en-US" sz="1400" dirty="0"/>
          </a:p>
        </p:txBody>
      </p:sp>
      <p:sp>
        <p:nvSpPr>
          <p:cNvPr id="9" name="dimhotel"/>
          <p:cNvSpPr/>
          <p:nvPr/>
        </p:nvSpPr>
        <p:spPr>
          <a:xfrm>
            <a:off x="2286000" y="1463040"/>
            <a:ext cx="182880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1463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dimhotel</a:t>
            </a:r>
            <a:endParaRPr lang="en-US" sz="1400" dirty="0"/>
          </a:p>
        </p:txBody>
      </p:sp>
      <p:sp>
        <p:nvSpPr>
          <p:cNvPr id="11" name="dimroomtype"/>
          <p:cNvSpPr/>
          <p:nvPr/>
        </p:nvSpPr>
        <p:spPr>
          <a:xfrm>
            <a:off x="2286000" y="4846320"/>
            <a:ext cx="182880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4846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dimroomtype</a:t>
            </a:r>
            <a:endParaRPr lang="en-US" sz="1400" dirty="0"/>
          </a:p>
        </p:txBody>
      </p:sp>
      <p:sp>
        <p:nvSpPr>
          <p:cNvPr id="13" name="dimcountry"/>
          <p:cNvSpPr/>
          <p:nvPr/>
        </p:nvSpPr>
        <p:spPr>
          <a:xfrm>
            <a:off x="548640" y="3154680"/>
            <a:ext cx="137160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154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dimcountry</a:t>
            </a:r>
            <a:endParaRPr lang="en-US" sz="1400" dirty="0"/>
          </a:p>
        </p:txBody>
      </p:sp>
      <p:sp>
        <p:nvSpPr>
          <p:cNvPr id="15" name="DimDate"/>
          <p:cNvSpPr/>
          <p:nvPr/>
        </p:nvSpPr>
        <p:spPr>
          <a:xfrm>
            <a:off x="4480560" y="3154680"/>
            <a:ext cx="137160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3154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DimDate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852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One fact table, four dimension tables</a:t>
            </a:r>
            <a:endParaRPr lang="en-US" sz="1400" dirty="0"/>
          </a:p>
        </p:txBody>
      </p:sp>
      <p:sp>
        <p:nvSpPr>
          <p:cNvPr id="18" name="Measure 1"/>
          <p:cNvSpPr/>
          <p:nvPr/>
        </p:nvSpPr>
        <p:spPr>
          <a:xfrm>
            <a:off x="6400800" y="1371600"/>
            <a:ext cx="5212080" cy="704088"/>
          </a:xfrm>
          <a:prstGeom prst="roundRect">
            <a:avLst>
              <a:gd name="adj" fmla="val 15584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29400" y="14447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Cancellation Rate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1737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Cancelled bookings ÷ total bookings</a:t>
            </a:r>
            <a:endParaRPr lang="en-US" sz="1400" dirty="0"/>
          </a:p>
        </p:txBody>
      </p:sp>
      <p:sp>
        <p:nvSpPr>
          <p:cNvPr id="21" name="Measure 2"/>
          <p:cNvSpPr/>
          <p:nvPr/>
        </p:nvSpPr>
        <p:spPr>
          <a:xfrm>
            <a:off x="6400800" y="2167128"/>
            <a:ext cx="5212080" cy="704088"/>
          </a:xfrm>
          <a:prstGeom prst="roundRect">
            <a:avLst>
              <a:gd name="adj" fmla="val 15584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29400" y="2240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Total Revenue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25328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ADR × nights, confirmed bookings only</a:t>
            </a:r>
            <a:endParaRPr lang="en-US" sz="1400" dirty="0"/>
          </a:p>
        </p:txBody>
      </p:sp>
      <p:sp>
        <p:nvSpPr>
          <p:cNvPr id="24" name="Measure 3"/>
          <p:cNvSpPr/>
          <p:nvPr/>
        </p:nvSpPr>
        <p:spPr>
          <a:xfrm>
            <a:off x="6400800" y="2962656"/>
            <a:ext cx="5212080" cy="704088"/>
          </a:xfrm>
          <a:prstGeom prst="roundRect">
            <a:avLst>
              <a:gd name="adj" fmla="val 15584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29400" y="30358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Avg ADR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33284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Average daily rate of confirmed stays</a:t>
            </a:r>
            <a:endParaRPr lang="en-US" sz="1400" dirty="0"/>
          </a:p>
        </p:txBody>
      </p:sp>
      <p:sp>
        <p:nvSpPr>
          <p:cNvPr id="27" name="Measure 4"/>
          <p:cNvSpPr/>
          <p:nvPr/>
        </p:nvSpPr>
        <p:spPr>
          <a:xfrm>
            <a:off x="6400800" y="3758184"/>
            <a:ext cx="5212080" cy="704088"/>
          </a:xfrm>
          <a:prstGeom prst="roundRect">
            <a:avLst>
              <a:gd name="adj" fmla="val 15584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29400" y="38313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Occupancy %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629400" y="41239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Room-nights sold ÷ rooms available</a:t>
            </a:r>
            <a:endParaRPr lang="en-US" sz="1400" dirty="0"/>
          </a:p>
        </p:txBody>
      </p:sp>
      <p:sp>
        <p:nvSpPr>
          <p:cNvPr id="30" name="Measure 5"/>
          <p:cNvSpPr/>
          <p:nvPr/>
        </p:nvSpPr>
        <p:spPr>
          <a:xfrm>
            <a:off x="6400800" y="4553712"/>
            <a:ext cx="5212080" cy="704088"/>
          </a:xfrm>
          <a:prstGeom prst="roundRect">
            <a:avLst>
              <a:gd name="adj" fmla="val 15584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29400" y="46268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RevPAR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629400" y="49194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Revenue ÷ rooms available</a:t>
            </a:r>
            <a:endParaRPr lang="en-US" sz="1400" dirty="0"/>
          </a:p>
        </p:txBody>
      </p:sp>
      <p:sp>
        <p:nvSpPr>
          <p:cNvPr id="33" name="Measure 6"/>
          <p:cNvSpPr/>
          <p:nvPr/>
        </p:nvSpPr>
        <p:spPr>
          <a:xfrm>
            <a:off x="6400800" y="5349240"/>
            <a:ext cx="5212080" cy="704088"/>
          </a:xfrm>
          <a:prstGeom prst="roundRect">
            <a:avLst>
              <a:gd name="adj" fmla="val 15584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29400" y="54223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Revenue Lost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629400" y="5715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ADR × nights, cancelled bookings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Power BI dashboard</a:t>
            </a:r>
            <a:endParaRPr lang="en-US" sz="3400" dirty="0"/>
          </a:p>
        </p:txBody>
      </p:sp>
      <p:pic>
        <p:nvPicPr>
          <p:cNvPr id="3" name="Dashboard screenshot" descr="Power BI dashboard showing KPI cards, occupancy heatmap and cancellation cha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8412480" cy="4736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281160" y="1325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Slicers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281160" y="17373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Year and hotel filter every card and chart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28116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KPI cards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281160" y="33375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Revenue, bookings, ADR, occupancy and cancellation rate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281160" y="4526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Charts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281160" y="4937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Occupancy heatmap, monthly trend, cancellations, countries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Seasonality: December peaks, July dips</a:t>
            </a:r>
            <a:endParaRPr lang="en-US" sz="3400" dirty="0"/>
          </a:p>
        </p:txBody>
      </p:sp>
      <p:sp>
        <p:nvSpPr>
          <p:cNvPr id="3" name="Chart card"/>
          <p:cNvSpPr/>
          <p:nvPr/>
        </p:nvSpPr>
        <p:spPr>
          <a:xfrm>
            <a:off x="548640" y="1371600"/>
            <a:ext cx="7772400" cy="475488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731520" y="1463040"/>
          <a:ext cx="74066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llout 1"/>
          <p:cNvSpPr/>
          <p:nvPr/>
        </p:nvSpPr>
        <p:spPr>
          <a:xfrm>
            <a:off x="8595360" y="1371600"/>
            <a:ext cx="30175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823960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December: ₹5.25 Cr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82396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strongest month</a:t>
            </a:r>
            <a:endParaRPr lang="en-US" sz="1400" dirty="0"/>
          </a:p>
        </p:txBody>
      </p:sp>
      <p:sp>
        <p:nvSpPr>
          <p:cNvPr id="8" name="Callout 2"/>
          <p:cNvSpPr/>
          <p:nvPr/>
        </p:nvSpPr>
        <p:spPr>
          <a:xfrm>
            <a:off x="8595360" y="3063240"/>
            <a:ext cx="30175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823960" y="3246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July: ₹2.11 Cr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823960" y="3886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weakest month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595360" y="4846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Pricing and staffing should follow this swing.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Early and flexible bookings cancel most</a:t>
            </a:r>
            <a:endParaRPr lang="en-US" sz="3400" dirty="0"/>
          </a:p>
        </p:txBody>
      </p:sp>
      <p:sp>
        <p:nvSpPr>
          <p:cNvPr id="3" name="Lead time card"/>
          <p:cNvSpPr/>
          <p:nvPr/>
        </p:nvSpPr>
        <p:spPr>
          <a:xfrm>
            <a:off x="548640" y="1371600"/>
            <a:ext cx="5440680" cy="352044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4" name="Deposit card"/>
          <p:cNvSpPr/>
          <p:nvPr/>
        </p:nvSpPr>
        <p:spPr>
          <a:xfrm>
            <a:off x="6172200" y="1371600"/>
            <a:ext cx="5440680" cy="352044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85800" y="1463040"/>
          <a:ext cx="516636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309360" y="1463040"/>
          <a:ext cx="516636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Mini stat 1"/>
          <p:cNvSpPr/>
          <p:nvPr/>
        </p:nvSpPr>
        <p:spPr>
          <a:xfrm>
            <a:off x="548640" y="5074920"/>
            <a:ext cx="265176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51023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46.9%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5760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Groups cancel</a:t>
            </a:r>
            <a:endParaRPr lang="en-US" sz="1400" dirty="0"/>
          </a:p>
        </p:txBody>
      </p:sp>
      <p:sp>
        <p:nvSpPr>
          <p:cNvPr id="10" name="Mini stat 2"/>
          <p:cNvSpPr/>
          <p:nvPr/>
        </p:nvSpPr>
        <p:spPr>
          <a:xfrm>
            <a:off x="3355848" y="5074920"/>
            <a:ext cx="265176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538728" y="51023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45.7%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3538728" y="5760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Online TA cancel</a:t>
            </a:r>
            <a:endParaRPr lang="en-US" sz="1400" dirty="0"/>
          </a:p>
        </p:txBody>
      </p:sp>
      <p:sp>
        <p:nvSpPr>
          <p:cNvPr id="13" name="Mini stat 3"/>
          <p:cNvSpPr/>
          <p:nvPr/>
        </p:nvSpPr>
        <p:spPr>
          <a:xfrm>
            <a:off x="6163056" y="5074920"/>
            <a:ext cx="265176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345936" y="51023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8.7%</a:t>
            </a: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6345936" y="5760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Corporate cancel</a:t>
            </a:r>
            <a:endParaRPr lang="en-US" sz="1400" dirty="0"/>
          </a:p>
        </p:txBody>
      </p:sp>
      <p:sp>
        <p:nvSpPr>
          <p:cNvPr id="16" name="Mini stat 4"/>
          <p:cNvSpPr/>
          <p:nvPr/>
        </p:nvSpPr>
        <p:spPr>
          <a:xfrm>
            <a:off x="8970264" y="5074920"/>
            <a:ext cx="265176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153144" y="51023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61.2%</a:t>
            </a:r>
            <a:endParaRPr lang="en-US" sz="2800" dirty="0"/>
          </a:p>
        </p:txBody>
      </p:sp>
      <p:sp>
        <p:nvSpPr>
          <p:cNvPr id="18" name="Text 14"/>
          <p:cNvSpPr txBox="1"/>
          <p:nvPr/>
        </p:nvSpPr>
        <p:spPr>
          <a:xfrm>
            <a:off x="9153144" y="5760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revenue from India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Four recommendations</a:t>
            </a:r>
            <a:endParaRPr lang="en-US" sz="3400" dirty="0"/>
          </a:p>
        </p:txBody>
      </p:sp>
      <p:sp>
        <p:nvSpPr>
          <p:cNvPr id="3" name="Recommendation 1"/>
          <p:cNvSpPr/>
          <p:nvPr/>
        </p:nvSpPr>
        <p:spPr>
          <a:xfrm>
            <a:off x="548640" y="137160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86720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691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Require deposits early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2402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Use deposits or non-refundable rates for bookings made far in advance.</a:t>
            </a:r>
            <a:endParaRPr lang="en-US" sz="1600" dirty="0"/>
          </a:p>
        </p:txBody>
      </p:sp>
      <p:sp>
        <p:nvSpPr>
          <p:cNvPr id="8" name="Recommendation 2"/>
          <p:cNvSpPr/>
          <p:nvPr/>
        </p:nvSpPr>
        <p:spPr>
          <a:xfrm>
            <a:off x="6172200" y="137160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46520" y="16916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085" y="186720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06640" y="1691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Review overbooking limits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406640" y="22402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Plan for higher cancellations from group and online agent bookings.</a:t>
            </a:r>
            <a:endParaRPr lang="en-US" sz="1600" dirty="0"/>
          </a:p>
        </p:txBody>
      </p:sp>
      <p:sp>
        <p:nvSpPr>
          <p:cNvPr id="13" name="Recommendation 3"/>
          <p:cNvSpPr/>
          <p:nvPr/>
        </p:nvSpPr>
        <p:spPr>
          <a:xfrm>
            <a:off x="548640" y="379476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4114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4290365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4114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Price for the seasons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783080" y="46634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Raise rates around the December peak and discount in July.</a:t>
            </a:r>
            <a:endParaRPr lang="en-US" sz="1600" dirty="0"/>
          </a:p>
        </p:txBody>
      </p:sp>
      <p:sp>
        <p:nvSpPr>
          <p:cNvPr id="18" name="Recommendation 4"/>
          <p:cNvSpPr/>
          <p:nvPr/>
        </p:nvSpPr>
        <p:spPr>
          <a:xfrm>
            <a:off x="6172200" y="379476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46520" y="41148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085" y="4290365"/>
            <a:ext cx="380390" cy="38039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4114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Grow direct and corporate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406640" y="46634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These segments cancel the least, so they give steadier revenue.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Limitations and next steps</a:t>
            </a:r>
            <a:endParaRPr lang="en-US" sz="3400" dirty="0"/>
          </a:p>
        </p:txBody>
      </p:sp>
      <p:sp>
        <p:nvSpPr>
          <p:cNvPr id="3" name="Limitations"/>
          <p:cNvSpPr/>
          <p:nvPr/>
        </p:nvSpPr>
        <p:spPr>
          <a:xfrm>
            <a:off x="548640" y="1371600"/>
            <a:ext cx="3657600" cy="475488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4" name="Next steps"/>
          <p:cNvSpPr/>
          <p:nvPr/>
        </p:nvSpPr>
        <p:spPr>
          <a:xfrm>
            <a:off x="4389120" y="1371600"/>
            <a:ext cx="3657600" cy="475488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3200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Simulated data shows typical hotel behaviour, not a real company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Occupancy uses a fixed room count per hotel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Revenue is counted in the month of arrival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61772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103120"/>
            <a:ext cx="3200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Cancellation prediction model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Monthly demand forecast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Market-segment page and mobile layout</a:t>
            </a:r>
            <a:endParaRPr lang="en-US" sz="1600" dirty="0"/>
          </a:p>
        </p:txBody>
      </p:sp>
      <p:sp>
        <p:nvSpPr>
          <p:cNvPr id="9" name="Thank you card"/>
          <p:cNvSpPr/>
          <p:nvPr/>
        </p:nvSpPr>
        <p:spPr>
          <a:xfrm>
            <a:off x="8229600" y="1371600"/>
            <a:ext cx="3383280" cy="4754880"/>
          </a:xfrm>
          <a:prstGeom prst="roundRect">
            <a:avLst>
              <a:gd name="adj" fmla="val 3243"/>
            </a:avLst>
          </a:prstGeom>
          <a:solidFill>
            <a:schemeClr val="tx1"/>
          </a:solidFill>
          <a:ln w="9525">
            <a:solidFill>
              <a:srgbClr val="D3DF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03920" y="20116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Questions welcome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4206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Your Name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46634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github.com/your-username/hotel-booking-bi-dashboard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tel Teal">
  <a:themeElements>
    <a:clrScheme name="Hotel Teal">
      <a:dk1>
        <a:srgbClr val="14283A"/>
      </a:dk1>
      <a:lt1>
        <a:srgbClr val="FFFFFF"/>
      </a:lt1>
      <a:dk2>
        <a:srgbClr val="1F7A7A"/>
      </a:dk2>
      <a:lt2>
        <a:srgbClr val="EDF3F2"/>
      </a:lt2>
      <a:accent1>
        <a:srgbClr val="1F7A7A"/>
      </a:accent1>
      <a:accent2>
        <a:srgbClr val="B8892B"/>
      </a:accent2>
      <a:accent3>
        <a:srgbClr val="B83A4B"/>
      </a:accent3>
      <a:accent4>
        <a:srgbClr val="46B4AA"/>
      </a:accent4>
      <a:accent5>
        <a:srgbClr val="5B6E7C"/>
      </a:accent5>
      <a:accent6>
        <a:srgbClr val="D9AC4F"/>
      </a:accent6>
      <a:hlink>
        <a:srgbClr val="1F7A7A"/>
      </a:hlink>
      <a:folHlink>
        <a:srgbClr val="5B6E7C"/>
      </a:folHlink>
    </a:clrScheme>
    <a:fontScheme name="Hotel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Booking Data Analysis and BI Dashboard</dc:title>
  <dc:subject>PptxGenJS Presentation</dc:subject>
  <dc:creator>PptxGenJS</dc:creator>
  <cp:lastModifiedBy>PptxGenJS</cp:lastModifiedBy>
  <cp:revision>1</cp:revision>
  <dcterms:created xsi:type="dcterms:W3CDTF">2026-10-23T03:50:33Z</dcterms:created>
  <dcterms:modified xsi:type="dcterms:W3CDTF">2026-10-23T03:50:33Z</dcterms:modified>
</cp:coreProperties>
</file>